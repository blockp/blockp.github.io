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409" r:id="rId3"/>
    <p:sldId id="415" r:id="rId4"/>
    <p:sldId id="419" r:id="rId5"/>
    <p:sldId id="414" r:id="rId6"/>
    <p:sldId id="41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25" y="365126"/>
            <a:ext cx="10515906" cy="1325563"/>
          </a:xfrm>
          <a:prstGeom prst="rect">
            <a:avLst/>
          </a:prstGeom>
        </p:spPr>
        <p:txBody>
          <a:bodyPr lIns="83640" tIns="41820" rIns="83640" bIns="41820"/>
          <a:lstStyle>
            <a:lvl1pPr>
              <a:defRPr>
                <a:ea typeface="思源黑体" panose="020B0400000000000000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25" y="1825624"/>
            <a:ext cx="10515906" cy="4351339"/>
          </a:xfrm>
          <a:prstGeom prst="rect">
            <a:avLst/>
          </a:prstGeom>
        </p:spPr>
        <p:txBody>
          <a:bodyPr vert="eaVert" lIns="83640" tIns="41820" rIns="83640" bIns="41820"/>
          <a:lstStyle>
            <a:lvl1pPr>
              <a:defRPr>
                <a:ea typeface="思源黑体 CN Bold" pitchFamily="34" charset="-122"/>
              </a:defRPr>
            </a:lvl1pPr>
            <a:lvl2pPr>
              <a:defRPr>
                <a:ea typeface="思源黑体 CN Bold" pitchFamily="34" charset="-122"/>
              </a:defRPr>
            </a:lvl2pPr>
            <a:lvl3pPr>
              <a:defRPr>
                <a:ea typeface="思源黑体 CN Bold" pitchFamily="34" charset="-122"/>
              </a:defRPr>
            </a:lvl3pPr>
            <a:lvl4pPr>
              <a:defRPr>
                <a:ea typeface="思源黑体 CN Bold" pitchFamily="34" charset="-122"/>
              </a:defRPr>
            </a:lvl4pPr>
            <a:lvl5pPr>
              <a:defRPr>
                <a:ea typeface="思源黑体 CN Bold" pitchFamily="34" charset="-122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25" y="6356351"/>
            <a:ext cx="2743280" cy="365125"/>
          </a:xfrm>
          <a:prstGeom prst="rect">
            <a:avLst/>
          </a:prstGeom>
        </p:spPr>
        <p:txBody>
          <a:bodyPr lIns="83640" tIns="41820" rIns="83640" bIns="41820"/>
          <a:lstStyle>
            <a:lvl1pPr fontAlgn="auto">
              <a:defRPr noProof="1" smtClean="0">
                <a:latin typeface="+mn-lt"/>
                <a:ea typeface="思源黑体 CN Bold" pitchFamily="34" charset="-122"/>
              </a:defRPr>
            </a:lvl1pPr>
          </a:lstStyle>
          <a:p>
            <a:pPr>
              <a:defRPr/>
            </a:pPr>
            <a:fld id="{E683E577-D6EA-4B7F-B4A8-2B925297DCA3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718" y="6356351"/>
            <a:ext cx="4114920" cy="365125"/>
          </a:xfrm>
          <a:prstGeom prst="rect">
            <a:avLst/>
          </a:prstGeom>
        </p:spPr>
        <p:txBody>
          <a:bodyPr lIns="83640" tIns="41820" rIns="83640" bIns="41820"/>
          <a:lstStyle>
            <a:lvl1pPr fontAlgn="auto">
              <a:defRPr noProof="1">
                <a:ea typeface="思源黑体 CN Bold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850" y="6356351"/>
            <a:ext cx="2743280" cy="365125"/>
          </a:xfrm>
          <a:prstGeom prst="rect">
            <a:avLst/>
          </a:prstGeom>
        </p:spPr>
        <p:txBody>
          <a:bodyPr vert="horz" wrap="square" lIns="83640" tIns="41820" rIns="83640" bIns="41820" numCol="1" anchor="t" anchorCtr="0" compatLnSpc="1"/>
          <a:lstStyle>
            <a:lvl1pPr>
              <a:defRPr smtClean="0">
                <a:ea typeface="思源黑体 CN Bold" pitchFamily="34" charset="-122"/>
              </a:defRPr>
            </a:lvl1pPr>
          </a:lstStyle>
          <a:p>
            <a:pPr>
              <a:defRPr/>
            </a:pPr>
            <a:fld id="{6BA5D98A-592C-4D90-86F8-248820E971F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7.xml"/><Relationship Id="rId1" Type="http://schemas.openxmlformats.org/officeDocument/2006/relationships/hyperlink" Target="https://blockp.github.io/studio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260" y="1694180"/>
            <a:ext cx="9799200" cy="2570400"/>
          </a:xfrm>
        </p:spPr>
        <p:txBody>
          <a:bodyPr/>
          <a:p>
            <a:r>
              <a:rPr lang="zh-CN" altLang="zh-CN"/>
              <a:t>怪人</a:t>
            </a:r>
            <a:r>
              <a:rPr lang="en-US" altLang="zh-CN"/>
              <a:t>Studio</a:t>
            </a:r>
            <a:br>
              <a:rPr lang="en-US" altLang="zh-CN"/>
            </a:br>
            <a:r>
              <a:rPr lang="zh-CN" altLang="en-US"/>
              <a:t>社团报告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915" y="41910"/>
            <a:ext cx="1950085" cy="68573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9255" y="349250"/>
            <a:ext cx="2974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/>
              <a:t>社团成果</a:t>
            </a:r>
            <a:r>
              <a:rPr lang="zh-CN" altLang="en-US" sz="3600">
                <a:sym typeface="+mn-ea"/>
              </a:rPr>
              <a:t>演示</a:t>
            </a:r>
            <a:endParaRPr lang="zh-CN" altLang="en-US" sz="3600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89255" y="349250"/>
            <a:ext cx="2974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/>
              <a:t>社团成果演示</a:t>
            </a:r>
            <a:endParaRPr lang="zh-CN" altLang="en-US" sz="36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社团成果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7090" y="1691005"/>
            <a:ext cx="103619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此学期，社团分为小组，</a:t>
            </a:r>
            <a:r>
              <a:rPr lang="zh-CN" altLang="en-US"/>
              <a:t>做出了三个优秀的游戏</a:t>
            </a:r>
            <a:endParaRPr lang="zh-CN" altLang="en-US"/>
          </a:p>
          <a:p>
            <a:r>
              <a:rPr lang="zh-CN" altLang="en-US"/>
              <a:t>根据社团内部人员水平</a:t>
            </a:r>
            <a:r>
              <a:rPr lang="zh-CN" altLang="en-US"/>
              <a:t>，我们选择统一使用</a:t>
            </a:r>
            <a:r>
              <a:rPr lang="en-US" altLang="zh-CN"/>
              <a:t>Scratch</a:t>
            </a:r>
            <a:r>
              <a:rPr lang="zh-CN" altLang="en-US"/>
              <a:t>（图形化编程</a:t>
            </a:r>
            <a:r>
              <a:rPr lang="zh-CN" altLang="en-US"/>
              <a:t>）</a:t>
            </a:r>
            <a:r>
              <a:rPr lang="zh-CN" altLang="en-US"/>
              <a:t>制作游戏</a:t>
            </a:r>
            <a:endParaRPr lang="zh-CN" altLang="en-US"/>
          </a:p>
          <a:p>
            <a:r>
              <a:rPr lang="zh-CN" altLang="en-US"/>
              <a:t>我们会将完成的作品编译成</a:t>
            </a:r>
            <a:r>
              <a:rPr lang="en-US" altLang="zh-CN"/>
              <a:t>html</a:t>
            </a:r>
            <a:r>
              <a:rPr lang="zh-CN" altLang="en-US"/>
              <a:t>并上传到网站 </a:t>
            </a:r>
            <a:r>
              <a:rPr lang="zh-CN" altLang="en-US">
                <a:hlinkClick r:id="rId1" tooltip="" action="ppaction://hlinkfile"/>
              </a:rPr>
              <a:t>https://blockp.github.io/studio</a:t>
            </a:r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847090" y="4413250"/>
            <a:ext cx="10370820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下一学期计划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5549900"/>
            <a:ext cx="10515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在下一学期，我们将社团将会向美术和音乐方向提升</a:t>
            </a:r>
            <a:endParaRPr lang="zh-CN" altLang="en-US"/>
          </a:p>
          <a:p>
            <a:r>
              <a:rPr lang="zh-CN" altLang="en-US"/>
              <a:t>并对社员的编程方面有更高的要求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73730" y="2730500"/>
            <a:ext cx="5844540" cy="1397635"/>
          </a:xfrm>
        </p:spPr>
        <p:txBody>
          <a:bodyPr>
            <a:normAutofit fontScale="90000"/>
          </a:bodyPr>
          <a:p>
            <a:pPr algn="ctr"/>
            <a:r>
              <a:rPr lang="zh-CN" altLang="en-US" sz="8890"/>
              <a:t>谢谢聆听</a:t>
            </a:r>
            <a:endParaRPr lang="zh-CN" altLang="en-US" sz="889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WPS 演示</Application>
  <PresentationFormat>宽屏</PresentationFormat>
  <Paragraphs>19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思源黑体</vt:lpstr>
      <vt:lpstr>思源黑体 CN Bold</vt:lpstr>
      <vt:lpstr>黑体</vt:lpstr>
      <vt:lpstr>仿宋</vt:lpstr>
      <vt:lpstr>Office 主题​​</vt:lpstr>
      <vt:lpstr>空白演示</vt:lpstr>
      <vt:lpstr>PowerPoint 演示文稿</vt:lpstr>
      <vt:lpstr>PowerPoint 演示文稿</vt:lpstr>
      <vt:lpstr>下一学期计划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</cp:lastModifiedBy>
  <cp:revision>177</cp:revision>
  <dcterms:created xsi:type="dcterms:W3CDTF">2019-06-19T02:08:00Z</dcterms:created>
  <dcterms:modified xsi:type="dcterms:W3CDTF">2022-12-17T02:58:41Z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